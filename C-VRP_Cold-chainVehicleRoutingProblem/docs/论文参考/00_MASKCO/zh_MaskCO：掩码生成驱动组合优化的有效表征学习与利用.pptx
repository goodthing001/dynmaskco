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430" r:id="rId4"/>
    <p:sldId id="426" r:id="rId6"/>
    <p:sldId id="443" r:id="rId7"/>
    <p:sldId id="432" r:id="rId8"/>
    <p:sldId id="433" r:id="rId9"/>
    <p:sldId id="434" r:id="rId10"/>
    <p:sldId id="435" r:id="rId11"/>
    <p:sldId id="436" r:id="rId12"/>
    <p:sldId id="437" r:id="rId13"/>
    <p:sldId id="438" r:id="rId14"/>
    <p:sldId id="439" r:id="rId15"/>
    <p:sldId id="440" r:id="rId16"/>
    <p:sldId id="441" r:id="rId17"/>
    <p:sldId id="44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zeng" initials="hz" lastIdx="4" clrIdx="0"/>
  <p:cmAuthor id="2" name="ZH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9FDDF3"/>
    <a:srgbClr val="B0D8E2"/>
    <a:srgbClr val="B8C4D9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5" y="57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A36F5-396F-4305-B7F8-DA4C920212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A568B-5B51-4BDA-8CED-85588A7CC88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423ACD-A7F6-4832-BE45-DA427A5B71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内容与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 userDrawn="1"/>
        </p:nvSpPr>
        <p:spPr>
          <a:xfrm>
            <a:off x="307975" y="201613"/>
            <a:ext cx="11576050" cy="64547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762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与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 rot="5400000">
            <a:off x="-232608" y="673894"/>
            <a:ext cx="1058862" cy="431800"/>
          </a:xfrm>
          <a:prstGeom prst="roundRect">
            <a:avLst>
              <a:gd name="adj" fmla="val 50000"/>
            </a:avLst>
          </a:prstGeom>
          <a:solidFill>
            <a:srgbClr val="FFD1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圆角矩形 2"/>
          <p:cNvSpPr/>
          <p:nvPr userDrawn="1"/>
        </p:nvSpPr>
        <p:spPr>
          <a:xfrm rot="5400000">
            <a:off x="-231815" y="1755776"/>
            <a:ext cx="1057275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圆角矩形 3"/>
          <p:cNvSpPr/>
          <p:nvPr userDrawn="1"/>
        </p:nvSpPr>
        <p:spPr>
          <a:xfrm rot="5400000">
            <a:off x="-232609" y="2837657"/>
            <a:ext cx="1058863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圆角矩形 4"/>
          <p:cNvSpPr/>
          <p:nvPr userDrawn="1"/>
        </p:nvSpPr>
        <p:spPr>
          <a:xfrm rot="5400000">
            <a:off x="-232608" y="3918744"/>
            <a:ext cx="1058862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圆角矩形 5"/>
          <p:cNvSpPr/>
          <p:nvPr userDrawn="1"/>
        </p:nvSpPr>
        <p:spPr>
          <a:xfrm rot="5400000">
            <a:off x="-231815" y="5000626"/>
            <a:ext cx="1057275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 userDrawn="1"/>
        </p:nvSpPr>
        <p:spPr>
          <a:xfrm>
            <a:off x="372538" y="201613"/>
            <a:ext cx="11577638" cy="64547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762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12"/>
          <p:cNvSpPr txBox="1">
            <a:spLocks noChangeArrowheads="1"/>
          </p:cNvSpPr>
          <p:nvPr userDrawn="1"/>
        </p:nvSpPr>
        <p:spPr bwMode="auto">
          <a:xfrm>
            <a:off x="49643" y="474663"/>
            <a:ext cx="40011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/>
              <a:t>自我介绍</a:t>
            </a:r>
            <a:endParaRPr lang="zh-CN" altLang="en-US" sz="1400" dirty="0"/>
          </a:p>
        </p:txBody>
      </p:sp>
      <p:sp>
        <p:nvSpPr>
          <p:cNvPr id="9" name="文本框 13"/>
          <p:cNvSpPr txBox="1">
            <a:spLocks noChangeArrowheads="1"/>
          </p:cNvSpPr>
          <p:nvPr userDrawn="1"/>
        </p:nvSpPr>
        <p:spPr bwMode="auto">
          <a:xfrm>
            <a:off x="49643" y="1477963"/>
            <a:ext cx="40011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思想方面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0" name="文本框 14"/>
          <p:cNvSpPr txBox="1">
            <a:spLocks noChangeArrowheads="1"/>
          </p:cNvSpPr>
          <p:nvPr userDrawn="1"/>
        </p:nvSpPr>
        <p:spPr bwMode="auto">
          <a:xfrm>
            <a:off x="49643" y="2560638"/>
            <a:ext cx="40011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学习方面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1" name="文本框 15"/>
          <p:cNvSpPr txBox="1">
            <a:spLocks noChangeArrowheads="1"/>
          </p:cNvSpPr>
          <p:nvPr userDrawn="1"/>
        </p:nvSpPr>
        <p:spPr bwMode="auto">
          <a:xfrm>
            <a:off x="49643" y="3646488"/>
            <a:ext cx="400110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生活方面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2" name="文本框 16"/>
          <p:cNvSpPr txBox="1">
            <a:spLocks noChangeArrowheads="1"/>
          </p:cNvSpPr>
          <p:nvPr userDrawn="1"/>
        </p:nvSpPr>
        <p:spPr bwMode="auto">
          <a:xfrm>
            <a:off x="49643" y="4730750"/>
            <a:ext cx="40011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综合实践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与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 rot="5400000">
            <a:off x="-232608" y="673894"/>
            <a:ext cx="1058862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圆角矩形 2"/>
          <p:cNvSpPr/>
          <p:nvPr userDrawn="1"/>
        </p:nvSpPr>
        <p:spPr>
          <a:xfrm rot="5400000">
            <a:off x="-231815" y="1755776"/>
            <a:ext cx="1057275" cy="431800"/>
          </a:xfrm>
          <a:prstGeom prst="roundRect">
            <a:avLst>
              <a:gd name="adj" fmla="val 50000"/>
            </a:avLst>
          </a:prstGeom>
          <a:solidFill>
            <a:srgbClr val="FBCE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圆角矩形 3"/>
          <p:cNvSpPr/>
          <p:nvPr userDrawn="1"/>
        </p:nvSpPr>
        <p:spPr>
          <a:xfrm rot="5400000">
            <a:off x="-232609" y="2837657"/>
            <a:ext cx="1058863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圆角矩形 4"/>
          <p:cNvSpPr/>
          <p:nvPr userDrawn="1"/>
        </p:nvSpPr>
        <p:spPr>
          <a:xfrm rot="5400000">
            <a:off x="-232608" y="3918744"/>
            <a:ext cx="1058862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圆角矩形 5"/>
          <p:cNvSpPr/>
          <p:nvPr userDrawn="1"/>
        </p:nvSpPr>
        <p:spPr>
          <a:xfrm rot="5400000">
            <a:off x="-231815" y="5000626"/>
            <a:ext cx="1057275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 userDrawn="1"/>
        </p:nvSpPr>
        <p:spPr>
          <a:xfrm>
            <a:off x="372538" y="201613"/>
            <a:ext cx="11577638" cy="64547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762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12"/>
          <p:cNvSpPr txBox="1">
            <a:spLocks noChangeArrowheads="1"/>
          </p:cNvSpPr>
          <p:nvPr userDrawn="1"/>
        </p:nvSpPr>
        <p:spPr bwMode="auto">
          <a:xfrm>
            <a:off x="49643" y="474663"/>
            <a:ext cx="40011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/>
              <a:t>自我介绍</a:t>
            </a:r>
            <a:endParaRPr lang="zh-CN" altLang="en-US" sz="1400" dirty="0"/>
          </a:p>
        </p:txBody>
      </p:sp>
      <p:sp>
        <p:nvSpPr>
          <p:cNvPr id="9" name="文本框 13"/>
          <p:cNvSpPr txBox="1">
            <a:spLocks noChangeArrowheads="1"/>
          </p:cNvSpPr>
          <p:nvPr userDrawn="1"/>
        </p:nvSpPr>
        <p:spPr bwMode="auto">
          <a:xfrm>
            <a:off x="49643" y="1477963"/>
            <a:ext cx="40011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思想方面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0" name="文本框 14"/>
          <p:cNvSpPr txBox="1">
            <a:spLocks noChangeArrowheads="1"/>
          </p:cNvSpPr>
          <p:nvPr userDrawn="1"/>
        </p:nvSpPr>
        <p:spPr bwMode="auto">
          <a:xfrm>
            <a:off x="49643" y="2560638"/>
            <a:ext cx="40011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学习方面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1" name="文本框 15"/>
          <p:cNvSpPr txBox="1">
            <a:spLocks noChangeArrowheads="1"/>
          </p:cNvSpPr>
          <p:nvPr userDrawn="1"/>
        </p:nvSpPr>
        <p:spPr bwMode="auto">
          <a:xfrm>
            <a:off x="49643" y="3646488"/>
            <a:ext cx="400110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生活方面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2" name="文本框 16"/>
          <p:cNvSpPr txBox="1">
            <a:spLocks noChangeArrowheads="1"/>
          </p:cNvSpPr>
          <p:nvPr userDrawn="1"/>
        </p:nvSpPr>
        <p:spPr bwMode="auto">
          <a:xfrm>
            <a:off x="49643" y="4730750"/>
            <a:ext cx="40011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综合实践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容与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 rot="5400000">
            <a:off x="-232608" y="673894"/>
            <a:ext cx="1058862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圆角矩形 2"/>
          <p:cNvSpPr/>
          <p:nvPr userDrawn="1"/>
        </p:nvSpPr>
        <p:spPr>
          <a:xfrm rot="5400000">
            <a:off x="-231815" y="1755776"/>
            <a:ext cx="1057275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圆角矩形 3"/>
          <p:cNvSpPr/>
          <p:nvPr userDrawn="1"/>
        </p:nvSpPr>
        <p:spPr>
          <a:xfrm rot="5400000">
            <a:off x="-232609" y="2837657"/>
            <a:ext cx="1058863" cy="431800"/>
          </a:xfrm>
          <a:prstGeom prst="roundRect">
            <a:avLst>
              <a:gd name="adj" fmla="val 50000"/>
            </a:avLst>
          </a:prstGeom>
          <a:solidFill>
            <a:srgbClr val="FBCE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圆角矩形 4"/>
          <p:cNvSpPr/>
          <p:nvPr userDrawn="1"/>
        </p:nvSpPr>
        <p:spPr>
          <a:xfrm rot="5400000">
            <a:off x="-232608" y="3918744"/>
            <a:ext cx="1058862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圆角矩形 5"/>
          <p:cNvSpPr/>
          <p:nvPr userDrawn="1"/>
        </p:nvSpPr>
        <p:spPr>
          <a:xfrm rot="5400000">
            <a:off x="-231815" y="5000626"/>
            <a:ext cx="1057275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 userDrawn="1"/>
        </p:nvSpPr>
        <p:spPr>
          <a:xfrm>
            <a:off x="372538" y="201613"/>
            <a:ext cx="11577638" cy="64547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762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12"/>
          <p:cNvSpPr txBox="1">
            <a:spLocks noChangeArrowheads="1"/>
          </p:cNvSpPr>
          <p:nvPr userDrawn="1"/>
        </p:nvSpPr>
        <p:spPr bwMode="auto">
          <a:xfrm>
            <a:off x="49643" y="474663"/>
            <a:ext cx="40011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/>
              <a:t>自我介绍</a:t>
            </a:r>
            <a:endParaRPr lang="zh-CN" altLang="en-US" sz="1400" dirty="0"/>
          </a:p>
        </p:txBody>
      </p:sp>
      <p:sp>
        <p:nvSpPr>
          <p:cNvPr id="9" name="文本框 13"/>
          <p:cNvSpPr txBox="1">
            <a:spLocks noChangeArrowheads="1"/>
          </p:cNvSpPr>
          <p:nvPr userDrawn="1"/>
        </p:nvSpPr>
        <p:spPr bwMode="auto">
          <a:xfrm>
            <a:off x="49643" y="1477963"/>
            <a:ext cx="40011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思想方面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0" name="文本框 14"/>
          <p:cNvSpPr txBox="1">
            <a:spLocks noChangeArrowheads="1"/>
          </p:cNvSpPr>
          <p:nvPr userDrawn="1"/>
        </p:nvSpPr>
        <p:spPr bwMode="auto">
          <a:xfrm>
            <a:off x="49643" y="2560638"/>
            <a:ext cx="40011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学习方面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1" name="文本框 15"/>
          <p:cNvSpPr txBox="1">
            <a:spLocks noChangeArrowheads="1"/>
          </p:cNvSpPr>
          <p:nvPr userDrawn="1"/>
        </p:nvSpPr>
        <p:spPr bwMode="auto">
          <a:xfrm>
            <a:off x="49643" y="3646488"/>
            <a:ext cx="400110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生活方面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2" name="文本框 16"/>
          <p:cNvSpPr txBox="1">
            <a:spLocks noChangeArrowheads="1"/>
          </p:cNvSpPr>
          <p:nvPr userDrawn="1"/>
        </p:nvSpPr>
        <p:spPr bwMode="auto">
          <a:xfrm>
            <a:off x="49643" y="4730750"/>
            <a:ext cx="40011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综合实践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内容与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 rot="5400000">
            <a:off x="-232608" y="673894"/>
            <a:ext cx="1058862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圆角矩形 2"/>
          <p:cNvSpPr/>
          <p:nvPr userDrawn="1"/>
        </p:nvSpPr>
        <p:spPr>
          <a:xfrm rot="5400000">
            <a:off x="-231815" y="1755776"/>
            <a:ext cx="1057275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圆角矩形 3"/>
          <p:cNvSpPr/>
          <p:nvPr userDrawn="1"/>
        </p:nvSpPr>
        <p:spPr>
          <a:xfrm rot="5400000">
            <a:off x="-232609" y="2837657"/>
            <a:ext cx="1058863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圆角矩形 4"/>
          <p:cNvSpPr/>
          <p:nvPr userDrawn="1"/>
        </p:nvSpPr>
        <p:spPr>
          <a:xfrm rot="5400000">
            <a:off x="-232608" y="3918744"/>
            <a:ext cx="1058862" cy="431800"/>
          </a:xfrm>
          <a:prstGeom prst="roundRect">
            <a:avLst>
              <a:gd name="adj" fmla="val 50000"/>
            </a:avLst>
          </a:prstGeom>
          <a:solidFill>
            <a:srgbClr val="FBCE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圆角矩形 5"/>
          <p:cNvSpPr/>
          <p:nvPr userDrawn="1"/>
        </p:nvSpPr>
        <p:spPr>
          <a:xfrm rot="5400000">
            <a:off x="-231815" y="5000626"/>
            <a:ext cx="1057275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 userDrawn="1"/>
        </p:nvSpPr>
        <p:spPr>
          <a:xfrm>
            <a:off x="372538" y="201613"/>
            <a:ext cx="11577638" cy="64547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762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12"/>
          <p:cNvSpPr txBox="1">
            <a:spLocks noChangeArrowheads="1"/>
          </p:cNvSpPr>
          <p:nvPr userDrawn="1"/>
        </p:nvSpPr>
        <p:spPr bwMode="auto">
          <a:xfrm>
            <a:off x="49643" y="474663"/>
            <a:ext cx="40011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/>
              <a:t>自我介绍</a:t>
            </a:r>
            <a:endParaRPr lang="zh-CN" altLang="en-US" sz="1400" dirty="0"/>
          </a:p>
        </p:txBody>
      </p:sp>
      <p:sp>
        <p:nvSpPr>
          <p:cNvPr id="9" name="文本框 13"/>
          <p:cNvSpPr txBox="1">
            <a:spLocks noChangeArrowheads="1"/>
          </p:cNvSpPr>
          <p:nvPr userDrawn="1"/>
        </p:nvSpPr>
        <p:spPr bwMode="auto">
          <a:xfrm>
            <a:off x="49643" y="1477963"/>
            <a:ext cx="40011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思想方面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0" name="文本框 14"/>
          <p:cNvSpPr txBox="1">
            <a:spLocks noChangeArrowheads="1"/>
          </p:cNvSpPr>
          <p:nvPr userDrawn="1"/>
        </p:nvSpPr>
        <p:spPr bwMode="auto">
          <a:xfrm>
            <a:off x="49643" y="2560638"/>
            <a:ext cx="40011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学习方面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1" name="文本框 15"/>
          <p:cNvSpPr txBox="1">
            <a:spLocks noChangeArrowheads="1"/>
          </p:cNvSpPr>
          <p:nvPr userDrawn="1"/>
        </p:nvSpPr>
        <p:spPr bwMode="auto">
          <a:xfrm>
            <a:off x="49643" y="3646488"/>
            <a:ext cx="400110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生活方面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2" name="文本框 16"/>
          <p:cNvSpPr txBox="1">
            <a:spLocks noChangeArrowheads="1"/>
          </p:cNvSpPr>
          <p:nvPr userDrawn="1"/>
        </p:nvSpPr>
        <p:spPr bwMode="auto">
          <a:xfrm>
            <a:off x="49643" y="4730750"/>
            <a:ext cx="40011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综合实践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内容与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 rot="5400000">
            <a:off x="-232608" y="673894"/>
            <a:ext cx="1058862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圆角矩形 2"/>
          <p:cNvSpPr/>
          <p:nvPr userDrawn="1"/>
        </p:nvSpPr>
        <p:spPr>
          <a:xfrm rot="5400000">
            <a:off x="-231815" y="1755776"/>
            <a:ext cx="1057275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圆角矩形 3"/>
          <p:cNvSpPr/>
          <p:nvPr userDrawn="1"/>
        </p:nvSpPr>
        <p:spPr>
          <a:xfrm rot="5400000">
            <a:off x="-232609" y="2837657"/>
            <a:ext cx="1058863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圆角矩形 4"/>
          <p:cNvSpPr/>
          <p:nvPr userDrawn="1"/>
        </p:nvSpPr>
        <p:spPr>
          <a:xfrm rot="5400000">
            <a:off x="-232608" y="3918744"/>
            <a:ext cx="1058862" cy="431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圆角矩形 5"/>
          <p:cNvSpPr/>
          <p:nvPr userDrawn="1"/>
        </p:nvSpPr>
        <p:spPr>
          <a:xfrm rot="5400000">
            <a:off x="-231815" y="5000626"/>
            <a:ext cx="1057275" cy="431800"/>
          </a:xfrm>
          <a:prstGeom prst="roundRect">
            <a:avLst>
              <a:gd name="adj" fmla="val 50000"/>
            </a:avLst>
          </a:prstGeom>
          <a:solidFill>
            <a:srgbClr val="FBCE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 userDrawn="1"/>
        </p:nvSpPr>
        <p:spPr>
          <a:xfrm>
            <a:off x="372538" y="201613"/>
            <a:ext cx="11577638" cy="64547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762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12"/>
          <p:cNvSpPr txBox="1">
            <a:spLocks noChangeArrowheads="1"/>
          </p:cNvSpPr>
          <p:nvPr userDrawn="1"/>
        </p:nvSpPr>
        <p:spPr bwMode="auto">
          <a:xfrm>
            <a:off x="49643" y="474663"/>
            <a:ext cx="40011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/>
              <a:t>自我介绍</a:t>
            </a:r>
            <a:endParaRPr lang="zh-CN" altLang="en-US" sz="1400" dirty="0"/>
          </a:p>
        </p:txBody>
      </p:sp>
      <p:sp>
        <p:nvSpPr>
          <p:cNvPr id="9" name="文本框 13"/>
          <p:cNvSpPr txBox="1">
            <a:spLocks noChangeArrowheads="1"/>
          </p:cNvSpPr>
          <p:nvPr userDrawn="1"/>
        </p:nvSpPr>
        <p:spPr bwMode="auto">
          <a:xfrm>
            <a:off x="49643" y="1477963"/>
            <a:ext cx="40011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思想方面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0" name="文本框 14"/>
          <p:cNvSpPr txBox="1">
            <a:spLocks noChangeArrowheads="1"/>
          </p:cNvSpPr>
          <p:nvPr userDrawn="1"/>
        </p:nvSpPr>
        <p:spPr bwMode="auto">
          <a:xfrm>
            <a:off x="49643" y="2560638"/>
            <a:ext cx="40011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学习方面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1" name="文本框 15"/>
          <p:cNvSpPr txBox="1">
            <a:spLocks noChangeArrowheads="1"/>
          </p:cNvSpPr>
          <p:nvPr userDrawn="1"/>
        </p:nvSpPr>
        <p:spPr bwMode="auto">
          <a:xfrm>
            <a:off x="49643" y="3646488"/>
            <a:ext cx="400110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生活方面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2" name="文本框 16"/>
          <p:cNvSpPr txBox="1">
            <a:spLocks noChangeArrowheads="1"/>
          </p:cNvSpPr>
          <p:nvPr userDrawn="1"/>
        </p:nvSpPr>
        <p:spPr bwMode="auto">
          <a:xfrm>
            <a:off x="49643" y="4730750"/>
            <a:ext cx="40011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1400" dirty="0">
                <a:solidFill>
                  <a:srgbClr val="262626"/>
                </a:solidFill>
                <a:latin typeface="微软雅黑 Light" panose="020B0502040204020203" pitchFamily="34" charset="-122"/>
              </a:rPr>
              <a:t>综合实践</a:t>
            </a:r>
            <a:endParaRPr lang="zh-CN" altLang="en-US" sz="1400" dirty="0">
              <a:solidFill>
                <a:srgbClr val="262626"/>
              </a:solidFill>
              <a:latin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B250B-2660-4403-967D-8482C5182E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3BE88-5A51-4A7A-B8F9-BF758D5AD29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B155A-6C3F-4654-B89E-25DB213E3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CE2E0-6DDF-4FAE-9DBA-F1C48BF5C13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46204" y="4747949"/>
            <a:ext cx="469959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汇报人：曾涵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75534" y="1408764"/>
            <a:ext cx="9124749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阿里妈妈东方大楷" pitchFamily="2" charset="-122"/>
                <a:ea typeface="阿里妈妈东方大楷" pitchFamily="2" charset="-122"/>
              </a:rPr>
              <a:t>MASKCO: MASKED GENERATION DRIVES EFFECTIVE REPRESENTATION LEARNING AND EXPLOITING FOR COMBINATORIAL OPTIMIZATION</a:t>
            </a:r>
            <a:endParaRPr lang="en-US" altLang="zh-CN" sz="2800" dirty="0">
              <a:latin typeface="阿里妈妈东方大楷" pitchFamily="2" charset="-122"/>
              <a:ea typeface="阿里妈妈东方大楷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2785" y="3136900"/>
            <a:ext cx="54032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MaskCO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：掩码生成驱动组合优化的有效表征学习与利用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70100" y="3720465"/>
            <a:ext cx="758444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/>
              <a:t>Lvda Chen¹†, Yang Li¹²†, Junchi Yan¹²</a:t>
            </a:r>
            <a:r>
              <a:rPr lang="en-US" altLang="zh-CN" sz="1600"/>
              <a:t>* </a:t>
            </a:r>
            <a:endParaRPr lang="en-US" altLang="zh-CN" sz="1600"/>
          </a:p>
          <a:p>
            <a:pPr algn="just"/>
            <a:r>
              <a:rPr lang="zh-CN" altLang="en-US" sz="1600"/>
              <a:t>注：作者均来自上海交通大学 </a:t>
            </a:r>
            <a:r>
              <a:rPr lang="en-US" altLang="zh-CN" sz="1600"/>
              <a:t>(School of AI &amp; School of CS &amp; Zhiyuan College) </a:t>
            </a:r>
            <a:r>
              <a:rPr lang="zh-CN" altLang="en-US" sz="1600"/>
              <a:t>及上海期智研究院 </a:t>
            </a:r>
            <a:r>
              <a:rPr lang="en-US" altLang="zh-CN" sz="1600"/>
              <a:t>(Shanghai Innovation Institute) 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84074" y="324431"/>
            <a:ext cx="8931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0" dirty="0">
                <a:effectLst/>
                <a:highlight>
                  <a:srgbClr val="FFFF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文献信息</a:t>
            </a:r>
            <a:endParaRPr lang="zh-CN" altLang="en-US" sz="16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5529103" y="1929078"/>
            <a:ext cx="575707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传统的神经组合优化（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NCO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）方法通常将解视为单一的整体，从而错失了高质量解中蕴含的丰富局部决策模式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。受自然语言和视觉领域自监督预训练的启发，本文提出了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MaskCO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，这是一种将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学习优化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重构为在参考解上进行自监督学习的掩码生成方法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。在训练阶段，该方法通过策略性地掩蔽最优解的部分内容并训练模型进行恢复，迫使模型内化细粒度的结构依赖关系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；在推理阶段，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MaskCO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掩码与重构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的迭代校正机制，通过不断掩蔽和重新生成变量来逐步提升解的质量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。实验表明，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MaskCO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学习到的表征不仅具有高度的可迁移性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，更在旅行商问题（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TSP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）等任务上实现了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10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倍的推理加速，同时将最优性差距缩小了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99%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以上，展现了突破性的性能提升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565401" y="4799732"/>
            <a:ext cx="558265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神经组合优化，掩码生成，自监督学习，表征学习，掩码与重构</a:t>
            </a:r>
            <a:endParaRPr lang="zh-CN" altLang="en-US" sz="1400" dirty="0"/>
          </a:p>
        </p:txBody>
      </p:sp>
      <p:cxnSp>
        <p:nvCxnSpPr>
          <p:cNvPr id="24" name="直接连接符 23"/>
          <p:cNvCxnSpPr/>
          <p:nvPr/>
        </p:nvCxnSpPr>
        <p:spPr>
          <a:xfrm>
            <a:off x="5616315" y="1775861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616315" y="1363287"/>
            <a:ext cx="1518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  <a:latin typeface="宋体" panose="02010600030101010101" pitchFamily="2" charset="-122"/>
              </a:rPr>
              <a:t>文章摘要</a:t>
            </a:r>
            <a:endParaRPr lang="zh-CN" altLang="en-US" dirty="0"/>
          </a:p>
        </p:txBody>
      </p:sp>
      <p:cxnSp>
        <p:nvCxnSpPr>
          <p:cNvPr id="27" name="直接连接符 26"/>
          <p:cNvCxnSpPr/>
          <p:nvPr/>
        </p:nvCxnSpPr>
        <p:spPr>
          <a:xfrm>
            <a:off x="5624333" y="4623328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624333" y="4225192"/>
            <a:ext cx="1518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关键词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443865" y="2033270"/>
            <a:ext cx="4972685" cy="1395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MASKCO: MASKED GENERATION DRIVES EFFECTIVE REPRESENTATION LEARNING AND EXPLOITING FOR COMBINATORIAL OPTIMIZATION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4355" y="3629660"/>
            <a:ext cx="44310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MaskCO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：掩码生成驱动组合优化的有效表征学习与利用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84074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背景</a:t>
            </a:r>
            <a:endParaRPr lang="zh-CN" altLang="en-US" sz="1600" b="1" dirty="0"/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463184" y="1524845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62916" y="1118870"/>
            <a:ext cx="326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组合优化（</a:t>
            </a:r>
            <a:r>
              <a:rPr lang="en-US" altLang="zh-CN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CO</a:t>
            </a:r>
            <a:r>
              <a:rPr lang="zh-CN" altLang="en-US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b="1" dirty="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4074" y="1605081"/>
            <a:ext cx="10750651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dirty="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核心特点</a:t>
            </a:r>
            <a:r>
              <a:rPr lang="zh-CN" altLang="en-US" sz="1600" b="0" dirty="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：可选的方案数量是天文数字，没法穷举，而且大多是「</a:t>
            </a:r>
            <a:r>
              <a:rPr lang="en-US" altLang="zh-CN" sz="1600" b="0" dirty="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NP-hard </a:t>
            </a:r>
            <a:r>
              <a:rPr lang="zh-CN" altLang="en-US" sz="1600" b="0" dirty="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问题」（超级难问题，规模稍大，传统算法算到宇宙毁灭也算不出最优解）。</a:t>
            </a:r>
            <a:endParaRPr lang="zh-CN" altLang="en-US" sz="1600" b="0" dirty="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dirty="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现实痛点</a:t>
            </a:r>
            <a:r>
              <a:rPr lang="zh-CN" altLang="en-US" sz="1600" b="0" dirty="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：传统方法靠人写规则（启发式），又慢又难适配不同问题</a:t>
            </a:r>
            <a:endParaRPr lang="zh-CN" altLang="en-US" sz="1600" b="0" dirty="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3184" y="3158667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62916" y="2752692"/>
            <a:ext cx="326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神经组合优化（</a:t>
            </a:r>
            <a:r>
              <a:rPr lang="en-US" altLang="zh-CN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NCO</a:t>
            </a:r>
            <a:r>
              <a:rPr lang="zh-CN" altLang="en-US" sz="1800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b="1" dirty="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4074" y="3238903"/>
            <a:ext cx="10750651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dirty="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现实痛点</a:t>
            </a:r>
            <a:r>
              <a:rPr lang="zh-CN" altLang="en-US" sz="1600" b="0" dirty="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： 目前方法效果差，要么需要大量最优解标注，泛化能力</a:t>
            </a:r>
            <a:r>
              <a:rPr lang="zh-CN" altLang="en-US" sz="1600" b="0" dirty="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差，不实用。</a:t>
            </a:r>
            <a:endParaRPr lang="zh-CN" altLang="en-US" sz="1600" b="0" dirty="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84342" y="4910400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84074" y="4504425"/>
            <a:ext cx="533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掩码生成自监督范式：</a:t>
            </a:r>
            <a:r>
              <a:rPr lang="en-US" altLang="zh-CN" sz="1800" b="1" dirty="0" err="1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MaskCO</a:t>
            </a:r>
            <a:r>
              <a:rPr lang="en-US" altLang="zh-CN" sz="1800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800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的 “核心魔法”</a:t>
            </a:r>
            <a:endParaRPr lang="zh-CN" altLang="en-US" b="1" dirty="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5232" y="4990636"/>
            <a:ext cx="10750651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dirty="0">
                <a:solidFill>
                  <a:srgbClr val="1F2329"/>
                </a:solidFill>
              </a:rPr>
              <a:t>来源</a:t>
            </a:r>
            <a:r>
              <a:rPr lang="zh-CN" altLang="en-US" sz="1600" b="0" dirty="0">
                <a:solidFill>
                  <a:srgbClr val="1F2329"/>
                </a:solidFill>
              </a:rPr>
              <a:t>：</a:t>
            </a:r>
            <a:r>
              <a:rPr lang="en-US" altLang="zh-CN" sz="1600" b="0" dirty="0">
                <a:solidFill>
                  <a:srgbClr val="1F2329"/>
                </a:solidFill>
              </a:rPr>
              <a:t>NLP</a:t>
            </a:r>
            <a:r>
              <a:rPr lang="zh-CN" altLang="en-US" sz="1600" b="0" dirty="0">
                <a:solidFill>
                  <a:srgbClr val="1F2329"/>
                </a:solidFill>
              </a:rPr>
              <a:t>（自然语言处理，让电脑懂人类语言）里的 </a:t>
            </a:r>
            <a:r>
              <a:rPr lang="en-US" altLang="zh-CN" sz="1600" b="0" dirty="0">
                <a:solidFill>
                  <a:srgbClr val="1F2329"/>
                </a:solidFill>
              </a:rPr>
              <a:t>BERT</a:t>
            </a:r>
            <a:r>
              <a:rPr lang="zh-CN" altLang="en-US" sz="1600" b="0" dirty="0">
                <a:solidFill>
                  <a:srgbClr val="1F2329"/>
                </a:solidFill>
              </a:rPr>
              <a:t>、</a:t>
            </a:r>
            <a:r>
              <a:rPr lang="en-US" altLang="zh-CN" sz="1600" b="0" dirty="0">
                <a:solidFill>
                  <a:srgbClr val="1F2329"/>
                </a:solidFill>
              </a:rPr>
              <a:t>CV</a:t>
            </a:r>
            <a:r>
              <a:rPr lang="zh-CN" altLang="en-US" sz="1600" b="0" dirty="0">
                <a:solidFill>
                  <a:srgbClr val="1F2329"/>
                </a:solidFill>
              </a:rPr>
              <a:t>（计算机视觉，让电脑看图片）里的 </a:t>
            </a:r>
            <a:r>
              <a:rPr lang="en-US" altLang="zh-CN" sz="1600" b="0" dirty="0">
                <a:solidFill>
                  <a:srgbClr val="1F2329"/>
                </a:solidFill>
              </a:rPr>
              <a:t>MAE</a:t>
            </a:r>
            <a:endParaRPr lang="zh-CN" altLang="en-US" sz="1600" b="0" dirty="0">
              <a:solidFill>
                <a:srgbClr val="1F232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4074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定义</a:t>
            </a:r>
            <a:endParaRPr lang="zh-CN" altLang="en-US" sz="1600" b="1" dirty="0"/>
          </a:p>
        </p:txBody>
      </p:sp>
      <p:cxnSp>
        <p:nvCxnSpPr>
          <p:cNvPr id="24" name="直接连接符 23"/>
          <p:cNvCxnSpPr/>
          <p:nvPr/>
        </p:nvCxnSpPr>
        <p:spPr>
          <a:xfrm>
            <a:off x="463183" y="1220045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62915" y="814070"/>
            <a:ext cx="326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组合优化问题的通用形式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545" y="2097405"/>
            <a:ext cx="2543175" cy="1295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2915" y="138811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在离散可行解空间中，寻找满足所有约束、且使目标函数最优的解，标准数学表达为：</a:t>
            </a:r>
            <a:endParaRPr lang="zh-CN" altLang="en-US" dirty="0"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384443" y="3731470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84175" y="3325495"/>
            <a:ext cx="326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问题载体：图</a:t>
            </a:r>
            <a:r>
              <a:rPr lang="en-US" altLang="zh-CN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 G</a:t>
            </a:r>
            <a:endParaRPr lang="zh-CN" altLang="en-US" b="1" dirty="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2915" y="385889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数学定义：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G=(V,E)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，其中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是顶点集（节点集合），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是边集（节点间的连接集合）。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63183" y="4970355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20370" y="4568190"/>
            <a:ext cx="326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决策基础集合：</a:t>
            </a:r>
            <a:r>
              <a:rPr lang="en-US" altLang="zh-CN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U(G)</a:t>
            </a:r>
            <a:endParaRPr lang="en-US" altLang="zh-CN" b="1" dirty="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2915" y="5088206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数学定义：我们要做「选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/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不选」决策的基本单元全集，论文把所有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CO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问题归为两类：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边决策问题（如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TSP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、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CVRP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）：决策对象是边，因此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U(G)=E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；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节点决策问题（如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MIS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）：决策对象是节点，因此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U(G)=V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。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33453" y="1246715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496672" y="841401"/>
            <a:ext cx="326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三类问题</a:t>
            </a:r>
            <a:endParaRPr lang="en-US" altLang="zh-CN" b="1" dirty="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725285" y="1701402"/>
          <a:ext cx="4597758" cy="4060135"/>
        </p:xfrm>
        <a:graphic>
          <a:graphicData uri="http://schemas.openxmlformats.org/drawingml/2006/table">
            <a:tbl>
              <a:tblPr/>
              <a:tblGrid>
                <a:gridCol w="1252403"/>
                <a:gridCol w="1046476"/>
                <a:gridCol w="1195291"/>
                <a:gridCol w="1103588"/>
              </a:tblGrid>
              <a:tr h="635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问题</a:t>
                      </a:r>
                      <a:endParaRPr lang="zh-CN" alt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选边</a:t>
                      </a:r>
                      <a:r>
                        <a:rPr lang="en-US" altLang="zh-CN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/</a:t>
                      </a:r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选节点</a:t>
                      </a:r>
                      <a:endParaRPr lang="zh-CN" alt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约束条件</a:t>
                      </a:r>
                      <a:endParaRPr lang="zh-CN" alt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优化目标</a:t>
                      </a:r>
                      <a:endParaRPr lang="zh-CN" altLang="en-US" sz="140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387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TSP</a:t>
                      </a:r>
                      <a:endParaRPr 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（</a:t>
                      </a:r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旅行商）</a:t>
                      </a:r>
                      <a:endParaRPr lang="zh-CN" alt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选边（</a:t>
                      </a:r>
                      <a:r>
                        <a:rPr 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E）</a:t>
                      </a:r>
                      <a:endParaRPr 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选的边形成 “哈密顿环”（每个城市走一次，回到起点）</a:t>
                      </a:r>
                      <a:endParaRPr lang="zh-CN" alt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总路线最短</a:t>
                      </a:r>
                      <a:endParaRPr lang="zh-CN" alt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MIS</a:t>
                      </a:r>
                      <a:endParaRPr lang="en-US" altLang="zh-CN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（最大独立集）</a:t>
                      </a:r>
                      <a:endParaRPr lang="zh-CN" alt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选节点（</a:t>
                      </a:r>
                      <a:r>
                        <a:rPr lang="en-US" sz="14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V）</a:t>
                      </a:r>
                      <a:endParaRPr lang="en-US" sz="140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选的节点互不相邻（没有边连着）</a:t>
                      </a:r>
                      <a:endParaRPr lang="zh-CN" alt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选的节点最多</a:t>
                      </a:r>
                      <a:endParaRPr lang="zh-CN" altLang="en-US" sz="140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59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CVRP</a:t>
                      </a:r>
                      <a:endParaRPr lang="en-US" altLang="zh-CN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（货车送货）</a:t>
                      </a:r>
                      <a:endParaRPr lang="zh-CN" alt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选边（</a:t>
                      </a:r>
                      <a:r>
                        <a:rPr lang="en-US" sz="14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E）</a:t>
                      </a:r>
                      <a:endParaRPr lang="en-US" sz="140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货车不超载，覆盖所有客户</a:t>
                      </a:r>
                      <a:endParaRPr lang="zh-CN" alt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总行驶距离最短</a:t>
                      </a:r>
                      <a:endParaRPr lang="zh-CN" altLang="en-US" sz="1400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0054" marR="10054" marT="10054" marB="10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4074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训练阶段：解决方案级自监督学习</a:t>
            </a:r>
            <a:r>
              <a:rPr lang="en-US" altLang="zh-CN" sz="1600" b="1" dirty="0">
                <a:latin typeface="Times New Roman" panose="02020603050405020304" charset="0"/>
                <a:cs typeface="Times New Roman" panose="02020603050405020304" charset="0"/>
              </a:rPr>
              <a:t>——</a:t>
            </a:r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解决之前</a:t>
            </a:r>
            <a:r>
              <a:rPr lang="en-US" altLang="zh-CN" sz="1600" b="1" dirty="0">
                <a:latin typeface="Times New Roman" panose="02020603050405020304" charset="0"/>
                <a:cs typeface="Times New Roman" panose="02020603050405020304" charset="0"/>
              </a:rPr>
              <a:t> NCO </a:t>
            </a:r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方法的致命痛点：数据利用效率极低。</a:t>
            </a:r>
            <a:endParaRPr lang="zh-CN" altLang="en-US" sz="16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08268" y="3107900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72440" y="2701925"/>
            <a:ext cx="326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掩码造样本的过程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7990" y="875665"/>
            <a:ext cx="9944735" cy="407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把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1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个样本变成了无数个训练样本，逼模型学会最优解里的「局部决策规律」，而不是死记硬背。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6260" y="3263900"/>
            <a:ext cx="149034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完整的最优解：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1141730" y="3597275"/>
            <a:ext cx="8166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保留率：</a:t>
            </a:r>
            <a:endParaRPr lang="zh-CN" alt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958340" y="3597275"/>
                <a:ext cx="816610" cy="3371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160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340" y="3597275"/>
                <a:ext cx="816610" cy="33718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2046605" y="3318510"/>
                <a:ext cx="644525" cy="3371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CN" sz="160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605" y="3318510"/>
                <a:ext cx="644525" cy="33718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2779395" y="3597275"/>
            <a:ext cx="597789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16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为掩码比例的分布，本文为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[0,1]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均匀分布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8674100" y="3384550"/>
                <a:ext cx="2316480" cy="59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>
                    <a:sym typeface="+mn-ea"/>
                  </a:rPr>
                  <a:t>均匀保留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𝑡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∙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zh-CN" altLang="en-US" sz="1600" i="1">
                        <a:latin typeface="Cambria Math" panose="02040503050406030204" charset="0"/>
                        <a:cs typeface="Cambria Math" panose="02040503050406030204" charset="0"/>
                      </a:rPr>
                      <m:t>个元素</m:t>
                    </m:r>
                  </m:oMath>
                </a14:m>
                <a:endParaRPr lang="zh-CN" altLang="en-US" sz="16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形成部分解</a:t>
                </a:r>
                <a:r>
                  <a:rPr lang="en-US" altLang="zh-CN" sz="1600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 sz="16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100" y="3384550"/>
                <a:ext cx="2316480" cy="5949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/>
          <p:cNvCxnSpPr/>
          <p:nvPr/>
        </p:nvCxnSpPr>
        <p:spPr>
          <a:xfrm flipV="1">
            <a:off x="7195185" y="3593465"/>
            <a:ext cx="1183640" cy="22225"/>
          </a:xfrm>
          <a:prstGeom prst="straightConnector1">
            <a:avLst/>
          </a:prstGeom>
          <a:ln w="31750" cap="rnd">
            <a:solidFill>
              <a:schemeClr val="accent3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508268" y="4385520"/>
            <a:ext cx="1524635" cy="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72440" y="3979545"/>
            <a:ext cx="326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模型的输出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" y="4490085"/>
            <a:ext cx="2219325" cy="48768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472440" y="4932045"/>
            <a:ext cx="54463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模型认为「该元素应该被选入最优解」的置信度</a:t>
            </a:r>
            <a:endParaRPr lang="zh-CN" altLang="en-US" sz="1600" dirty="0"/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428258" y="5923490"/>
            <a:ext cx="4913630" cy="17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384175" y="5441315"/>
            <a:ext cx="5224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损失函数</a:t>
            </a:r>
            <a:r>
              <a:rPr lang="en-US" altLang="zh-CN" b="1" dirty="0">
                <a:solidFill>
                  <a:schemeClr val="accent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</a:t>
            </a:r>
            <a:r>
              <a:rPr lang="zh-CN" altLang="en-US" b="1" dirty="0">
                <a:solidFill>
                  <a:schemeClr val="accent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二元交叉熵损失（</a:t>
            </a:r>
            <a:r>
              <a:rPr lang="en-US" altLang="zh-CN" b="1" dirty="0">
                <a:solidFill>
                  <a:schemeClr val="accent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BCE</a:t>
            </a:r>
            <a:r>
              <a:rPr lang="zh-CN" altLang="en-US" b="1" dirty="0">
                <a:solidFill>
                  <a:schemeClr val="accent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</a:t>
            </a:r>
            <a:r>
              <a:rPr lang="en-US" altLang="zh-CN" b="1" dirty="0">
                <a:solidFill>
                  <a:schemeClr val="accent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)</a:t>
            </a:r>
            <a:endParaRPr lang="en-US" altLang="zh-CN" b="1" dirty="0">
              <a:solidFill>
                <a:schemeClr val="accent3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45" y="6108065"/>
            <a:ext cx="7696835" cy="4413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9950" y="3655695"/>
            <a:ext cx="348615" cy="29273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463818" y="1575010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27990" y="1169035"/>
            <a:ext cx="326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部分解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2440" y="1680845"/>
            <a:ext cx="5533390" cy="407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一个二进制向量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x^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，如果存在完整的合法解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x′∈Ω(G)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，使得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x^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是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x′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的一部分（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x^≤x′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，逐元素比较），那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x^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就是一个部分解。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305818" y="1576915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269990" y="1170940"/>
            <a:ext cx="326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选择函数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14440" y="1682750"/>
            <a:ext cx="5533390" cy="407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输入一个部分解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x^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、模型给每个候选单元打的分数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p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、要选的目标数量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k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，输出一个更大的、依然合法的部分解。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4074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掩码生成的多步解码</a:t>
            </a:r>
            <a:endParaRPr lang="zh-CN" altLang="en-US" sz="1600" b="1" dirty="0"/>
          </a:p>
        </p:txBody>
      </p:sp>
      <p:cxnSp>
        <p:nvCxnSpPr>
          <p:cNvPr id="24" name="直接连接符 23"/>
          <p:cNvCxnSpPr/>
          <p:nvPr/>
        </p:nvCxnSpPr>
        <p:spPr>
          <a:xfrm>
            <a:off x="513348" y="1456265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13080" y="1050290"/>
            <a:ext cx="326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迭代优化流程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9470" y="855345"/>
            <a:ext cx="5645150" cy="56127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6638" r="6009"/>
          <a:stretch>
            <a:fillRect/>
          </a:stretch>
        </p:blipFill>
        <p:spPr>
          <a:xfrm>
            <a:off x="448310" y="3429000"/>
            <a:ext cx="5170805" cy="23520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19125" y="1989137"/>
            <a:ext cx="5080000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多步并行解码算法，从空解开始，分 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K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步迭代扩展，每一步都基于模型的置信度，用贪心选择函数扩展部分解，最终生成完整的可行解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4074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高级校正框架：掩码</a:t>
            </a:r>
            <a:r>
              <a:rPr lang="en-US" altLang="zh-CN" sz="1600" b="1" dirty="0"/>
              <a:t> - </a:t>
            </a:r>
            <a:r>
              <a:rPr lang="zh-CN" altLang="en-US" sz="1600" b="1" dirty="0"/>
              <a:t>重构</a:t>
            </a:r>
            <a:endParaRPr lang="zh-CN" altLang="en-US" sz="1600" b="1" dirty="0"/>
          </a:p>
        </p:txBody>
      </p:sp>
      <p:cxnSp>
        <p:nvCxnSpPr>
          <p:cNvPr id="24" name="直接连接符 23"/>
          <p:cNvCxnSpPr/>
          <p:nvPr/>
        </p:nvCxnSpPr>
        <p:spPr>
          <a:xfrm>
            <a:off x="513348" y="1456265"/>
            <a:ext cx="5582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384175" y="996315"/>
            <a:ext cx="6289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对当前解随机掩码，让模型重新重构，择优保留更优的解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896" b="1424"/>
          <a:stretch>
            <a:fillRect/>
          </a:stretch>
        </p:blipFill>
        <p:spPr>
          <a:xfrm>
            <a:off x="6652895" y="1000760"/>
            <a:ext cx="4704715" cy="52298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535" y="1649095"/>
            <a:ext cx="4731385" cy="4158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3439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总体架构</a:t>
            </a:r>
            <a:endParaRPr lang="zh-CN" altLang="en-US" sz="1600" b="1" dirty="0"/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927" r="1438" b="1800"/>
          <a:stretch>
            <a:fillRect/>
          </a:stretch>
        </p:blipFill>
        <p:spPr>
          <a:xfrm>
            <a:off x="2163445" y="1119505"/>
            <a:ext cx="8236585" cy="5177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3439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核心实验指标</a:t>
            </a:r>
            <a:endParaRPr lang="zh-CN" altLang="en-US" sz="1600" b="1" dirty="0"/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/>
        </p:nvGraphicFramePr>
        <p:xfrm>
          <a:off x="901065" y="1107440"/>
          <a:ext cx="10485120" cy="1770376"/>
        </p:xfrm>
        <a:graphic>
          <a:graphicData uri="http://schemas.openxmlformats.org/drawingml/2006/table">
            <a:tbl>
              <a:tblPr/>
              <a:tblGrid>
                <a:gridCol w="1745615"/>
                <a:gridCol w="2453640"/>
                <a:gridCol w="3664585"/>
                <a:gridCol w="262128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指标</a:t>
                      </a:r>
                      <a:endParaRPr lang="zh-CN" altLang="en-US" sz="16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全称</a:t>
                      </a:r>
                      <a:endParaRPr lang="zh-CN" altLang="en-US" sz="16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通俗含义</a:t>
                      </a:r>
                      <a:endParaRPr lang="zh-CN" altLang="en-US" sz="16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好坏判断</a:t>
                      </a:r>
                      <a:endParaRPr lang="zh-CN" altLang="en-US" sz="16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OBJ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Objective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目标函数值，比如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TSP </a:t>
                      </a:r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的总路径长度、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CVRP </a:t>
                      </a:r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的总行驶距离</a:t>
                      </a:r>
                      <a:endParaRPr lang="zh-CN" altLang="en-US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数值越小，解的质量越好</a:t>
                      </a:r>
                      <a:endParaRPr lang="zh-CN" altLang="en-US" sz="16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GAP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Optimality Gap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最优性差距，和「理论最优解」的差距百分比</a:t>
                      </a:r>
                      <a:endParaRPr lang="zh-CN" altLang="en-US" sz="1600" dirty="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越接近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0%</a:t>
                      </a:r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，解越接近完美最优解，越厉害</a:t>
                      </a:r>
                      <a:endParaRPr lang="zh-CN" altLang="en-US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TIME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求解时间</a:t>
                      </a:r>
                      <a:endParaRPr lang="zh-CN" altLang="en-US" sz="16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解出一个问题实例需要的时间</a:t>
                      </a:r>
                      <a:endParaRPr lang="zh-CN" altLang="en-US" sz="1600" dirty="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越短，速度越快，效率越高</a:t>
                      </a:r>
                      <a:endParaRPr lang="zh-CN" altLang="en-US" sz="1600" dirty="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774191" y="4009390"/>
            <a:ext cx="8468084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TSP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（旅行商问题）：边决策问题，固定解大小，最经典的组合优化测试基准；</a:t>
            </a:r>
            <a:endParaRPr lang="zh-CN" altLang="en-US" sz="16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CVRP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（带容量约束的车辆路径问题）：带硬约束的边决策问题，工业场景最常用，难度更高；</a:t>
            </a:r>
            <a:endParaRPr lang="zh-CN" altLang="en-US" sz="16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MIS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（最大独立集问题）：节点决策问题，可变解大小，验证方法的通用性。</a:t>
            </a:r>
            <a:endParaRPr lang="zh-CN" altLang="en-US" sz="16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569720" y="3700780"/>
            <a:ext cx="8829040" cy="1816100"/>
          </a:xfrm>
          <a:prstGeom prst="roundRect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3439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主实验结果</a:t>
            </a:r>
            <a:endParaRPr lang="zh-CN" altLang="en-US" sz="1600" b="1" dirty="0"/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170940"/>
            <a:ext cx="10724515" cy="42697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64540" y="4488815"/>
            <a:ext cx="10201910" cy="785495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3439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主实验结果</a:t>
            </a:r>
            <a:endParaRPr lang="zh-CN" altLang="en-US" sz="1600" b="1" dirty="0"/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280" y="1007110"/>
            <a:ext cx="10660380" cy="4853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3439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主实验结果</a:t>
            </a:r>
            <a:endParaRPr lang="zh-CN" altLang="en-US" sz="1600" b="1" dirty="0"/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540" y="1748155"/>
            <a:ext cx="11174730" cy="35394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410700" y="3041650"/>
            <a:ext cx="189801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校正机制的</a:t>
            </a:r>
            <a:r>
              <a:rPr lang="zh-CN" altLang="en-US" sz="1600"/>
              <a:t>使用</a:t>
            </a:r>
            <a:endParaRPr lang="zh-CN" altLang="en-US" sz="1600"/>
          </a:p>
        </p:txBody>
      </p:sp>
      <p:sp>
        <p:nvSpPr>
          <p:cNvPr id="5" name="矩形 4"/>
          <p:cNvSpPr/>
          <p:nvPr/>
        </p:nvSpPr>
        <p:spPr>
          <a:xfrm>
            <a:off x="7322185" y="4788535"/>
            <a:ext cx="3876675" cy="26225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3439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消融实验</a:t>
            </a:r>
            <a:endParaRPr lang="zh-CN" altLang="en-US" sz="1600" b="1" dirty="0"/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手机屏幕截图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09" y="974143"/>
            <a:ext cx="10287000" cy="52448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3439" y="324431"/>
            <a:ext cx="893160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无最优解训练</a:t>
            </a:r>
            <a:endParaRPr lang="zh-CN" altLang="en-US" sz="1600" b="1" dirty="0"/>
          </a:p>
        </p:txBody>
      </p:sp>
      <p:sp>
        <p:nvSpPr>
          <p:cNvPr id="4" name="矩形: 圆角 3"/>
          <p:cNvSpPr/>
          <p:nvPr/>
        </p:nvSpPr>
        <p:spPr>
          <a:xfrm>
            <a:off x="286138" y="167952"/>
            <a:ext cx="11619723" cy="5780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73125" y="1374775"/>
            <a:ext cx="10156190" cy="94615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先用低质量的传统启发式算法（如 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2-opt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）跑出的结果作为标签进行训练 。</a:t>
            </a:r>
            <a:endParaRPr lang="zh-CN" altLang="en-US" sz="16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/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然后让模型自我训练（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Self-training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），自己给自己打伪标签并微调 。</a:t>
            </a:r>
            <a:endParaRPr lang="zh-CN" altLang="en-US" sz="16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125" y="2909570"/>
            <a:ext cx="10099040" cy="281114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215515" y="1222375"/>
            <a:ext cx="7804150" cy="946150"/>
          </a:xfrm>
          <a:prstGeom prst="rect">
            <a:avLst/>
          </a:prstGeom>
          <a:noFill/>
          <a:ln w="19050"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达芬奇的左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3D52"/>
      </a:accent1>
      <a:accent2>
        <a:srgbClr val="FEBA01"/>
      </a:accent2>
      <a:accent3>
        <a:srgbClr val="0070C0"/>
      </a:accent3>
      <a:accent4>
        <a:srgbClr val="C00000"/>
      </a:accent4>
      <a:accent5>
        <a:srgbClr val="38526E"/>
      </a:accent5>
      <a:accent6>
        <a:srgbClr val="BFBFBF"/>
      </a:accent6>
      <a:hlink>
        <a:srgbClr val="2A3D52"/>
      </a:hlink>
      <a:folHlink>
        <a:srgbClr val="C4AF99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2220</Words>
  <Application>WPS 演示</Application>
  <PresentationFormat>宽屏</PresentationFormat>
  <Paragraphs>189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微软雅黑 Light</vt:lpstr>
      <vt:lpstr>华文楷体</vt:lpstr>
      <vt:lpstr>阿里妈妈东方大楷</vt:lpstr>
      <vt:lpstr>Times New Roman</vt:lpstr>
      <vt:lpstr>Calibri</vt:lpstr>
      <vt:lpstr>Arial</vt:lpstr>
      <vt:lpstr>Cambria Math</vt:lpstr>
      <vt:lpstr>微软雅黑</vt:lpstr>
      <vt:lpstr>Arial Unicode MS</vt:lpstr>
      <vt:lpstr>等线</vt:lpstr>
      <vt:lpstr>Calibri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 zeng</dc:creator>
  <cp:lastModifiedBy>(灬ꈍ εꈍ灬)</cp:lastModifiedBy>
  <cp:revision>29</cp:revision>
  <dcterms:created xsi:type="dcterms:W3CDTF">2024-08-28T13:00:00Z</dcterms:created>
  <dcterms:modified xsi:type="dcterms:W3CDTF">2026-04-02T01:05:33Z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28DF8D81E72D41D6BB87833FD939006A_12</vt:lpwstr>
  </property>
  <property fmtid="{D5CDD505-2E9C-101B-9397-08002B2CF9AE}" pid="3" name="KSOProductBuildVer">
    <vt:lpwstr>2052-12.1.0.25225</vt:lpwstr>
  </property>
</Properties>
</file>